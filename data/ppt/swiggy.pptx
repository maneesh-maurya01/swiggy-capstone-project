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63" r:id="rId9"/>
    <p:sldId id="264" r:id="rId10"/>
    <p:sldId id="265" r:id="rId11"/>
    <p:sldId id="266" r:id="rId12"/>
    <p:sldId id="270" r:id="rId13"/>
    <p:sldId id="267" r:id="rId14"/>
    <p:sldId id="268" r:id="rId15"/>
    <p:sldId id="271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E3F20ABE-05E6-4CCE-9E70-D29F147A55CF}">
          <p14:sldIdLst>
            <p14:sldId id="256"/>
            <p14:sldId id="257"/>
            <p14:sldId id="258"/>
            <p14:sldId id="260"/>
            <p14:sldId id="259"/>
            <p14:sldId id="261"/>
            <p14:sldId id="262"/>
            <p14:sldId id="263"/>
            <p14:sldId id="264"/>
            <p14:sldId id="265"/>
            <p14:sldId id="266"/>
            <p14:sldId id="270"/>
            <p14:sldId id="267"/>
            <p14:sldId id="268"/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710" autoAdjust="0"/>
  </p:normalViewPr>
  <p:slideViewPr>
    <p:cSldViewPr snapToGrid="0">
      <p:cViewPr varScale="1">
        <p:scale>
          <a:sx n="79" d="100"/>
          <a:sy n="79" d="100"/>
        </p:scale>
        <p:origin x="850" y="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770706-18E8-47F3-B294-D5D09C450059}" type="datetimeFigureOut">
              <a:rPr lang="en-IN" smtClean="0"/>
              <a:t>12-12-2025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069EBC-DEF7-48D6-908A-153CD6176A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57379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069EBC-DEF7-48D6-908A-153CD6176AF0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74986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069EBC-DEF7-48D6-908A-153CD6176AF0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98303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8E2A43-D9FA-9683-55DF-529752BA88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D9ABF2-5EEE-F386-A197-67E3514D9B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AF56A0-CAD9-7851-E632-26E5C036A7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E9B00-B51E-49C0-8EC8-D8179E7042E1}" type="datetimeFigureOut">
              <a:rPr lang="en-IN" smtClean="0"/>
              <a:t>12-12-2025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2B933A-269B-82B8-AD15-ADBFFB6166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FA0EEB-A67A-8B7A-8D68-DB2951DCFE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E6603-89EA-4E58-8A6C-37BF57F12F7A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304927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0EE55D-48EC-1CFC-59C9-647715B25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2BBAE7-A78A-6863-7230-2108825A65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E1F86A-2720-2A16-4A27-A09746695C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E9B00-B51E-49C0-8EC8-D8179E7042E1}" type="datetimeFigureOut">
              <a:rPr lang="en-IN" smtClean="0"/>
              <a:t>12-12-2025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15F38E-B1AD-CFEA-ECAF-33C73F1B7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4B40F6-9A5A-739A-0301-50640591AA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E6603-89EA-4E58-8A6C-37BF57F12F7A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176774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963852-CCFF-A7B5-81BC-CDC5FBCEE2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4D4DEB-3813-615A-F902-6923ADCC68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37ED5A-BC9C-D633-5D00-9F3CBB231E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E9B00-B51E-49C0-8EC8-D8179E7042E1}" type="datetimeFigureOut">
              <a:rPr lang="en-IN" smtClean="0"/>
              <a:t>12-12-2025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3C33A0-6E14-3B11-79F5-2690EE40B9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02CA3D-0D37-096F-DC3B-5001775814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E6603-89EA-4E58-8A6C-37BF57F12F7A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909636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E17AA8-4E32-D910-E66C-BBB2B9573D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5632A3-C2DD-DB62-1734-6BF3087AC4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C7633D-39A8-E502-CAA6-6831AEADB0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E98E5D-AAF3-7CCC-294A-5C518A5A6E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E9B00-B51E-49C0-8EC8-D8179E7042E1}" type="datetimeFigureOut">
              <a:rPr lang="en-IN" smtClean="0"/>
              <a:t>12-12-2025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EB2C5A-5F31-968D-6F4B-569995E86A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0F636B-3F53-9669-AF5D-57B8284695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E6603-89EA-4E58-8A6C-37BF57F12F7A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378514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4DC336-3A25-2AD7-4EAB-5D52394CC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583E21-0A12-EB2A-E3B6-83951827C3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5A6B95-6548-782F-A5E8-86DB468CDD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03561E6-B8C4-972B-10F6-15CDCA3C1A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430B11C-D903-1D7D-6197-F721AC2D83E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3F711CC-AD83-D7A9-4CD3-DA4F3CB992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E9B00-B51E-49C0-8EC8-D8179E7042E1}" type="datetimeFigureOut">
              <a:rPr lang="en-IN" smtClean="0"/>
              <a:t>12-12-2025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A228D3-626A-6DA8-4972-E64FB5EF7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E489D7F-D908-9317-7B58-7016DF727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E6603-89EA-4E58-8A6C-37BF57F12F7A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146199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20C956-E36F-4707-7E3C-6081022B7C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8B5837A-8A03-96CF-0104-B70BB2140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E9B00-B51E-49C0-8EC8-D8179E7042E1}" type="datetimeFigureOut">
              <a:rPr lang="en-IN" smtClean="0"/>
              <a:t>12-12-2025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1A97DE-79D4-5F22-2B2B-66712C7F27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42CFC3-B103-9604-D6DB-179640688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E6603-89EA-4E58-8A6C-37BF57F12F7A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543835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066450C-34BC-D4EA-AD53-1C687F3F5C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E9B00-B51E-49C0-8EC8-D8179E7042E1}" type="datetimeFigureOut">
              <a:rPr lang="en-IN" smtClean="0"/>
              <a:t>12-12-2025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BF03CAD-EEE8-EC5B-2898-7B5D1508BF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AB2172-0C73-9D92-E7D7-110DFBF5BC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E6603-89EA-4E58-8A6C-37BF57F12F7A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66322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3EA5F7-B35A-1796-0138-252F956741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5B6AEA-9858-D1A2-6B09-2D699B817A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3091E5-D63C-D343-647E-23A54CE47C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0B7B74-D973-FC7E-C983-4DBF219BEB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E9B00-B51E-49C0-8EC8-D8179E7042E1}" type="datetimeFigureOut">
              <a:rPr lang="en-IN" smtClean="0"/>
              <a:t>12-12-2025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D71ACE-F14A-26C2-F494-005CCE978B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6E0EC0-CC7D-898A-4DC9-8FEAAF216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E6603-89EA-4E58-8A6C-37BF57F12F7A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356653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2F1B7C-8C24-A105-F910-64CC7D5080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0E017CD-8BFA-A3A1-61D6-8479F12863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30899A-2BA6-E02F-EB87-C1417EC7C0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5DA41F-313F-72E6-E42C-47BEEC4EE8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E9B00-B51E-49C0-8EC8-D8179E7042E1}" type="datetimeFigureOut">
              <a:rPr lang="en-IN" smtClean="0"/>
              <a:t>12-12-2025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916F9E-9003-1542-45F6-AC28349A21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BEF876-BA9C-A9F9-DC00-1E1FB29416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E6603-89EA-4E58-8A6C-37BF57F12F7A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975652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FF3C7E-9ABA-DD68-193C-CE4B81A24C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CAAE84-6F57-BA7D-CAAC-5D62E901FC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616672-485A-BC0F-F0A1-D7E240FD70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E9B00-B51E-49C0-8EC8-D8179E7042E1}" type="datetimeFigureOut">
              <a:rPr lang="en-IN" smtClean="0"/>
              <a:t>12-12-2025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FAA22F-124E-39B0-A644-C59D89B637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659BB9-FEE4-182D-D932-1843765E2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E6603-89EA-4E58-8A6C-37BF57F12F7A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438011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3168E74-12BA-C9ED-38F3-EEB5E7F48AC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9138F7-15D7-5920-BDFE-561A9668F0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C6E34B-F342-E1FD-2644-23F088FADD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E9B00-B51E-49C0-8EC8-D8179E7042E1}" type="datetimeFigureOut">
              <a:rPr lang="en-IN" smtClean="0"/>
              <a:t>12-12-2025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069661-77B7-D862-E779-67A880DD7E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01C75A-4245-121B-A22E-0D1C64D2A8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E6603-89EA-4E58-8A6C-37BF57F12F7A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59553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BE37B0A-6057-4DBC-4A78-8DDBD72139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DE9599-2AC9-E2BA-CACC-88E2F5EF38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EE65A3-1632-6130-2F03-DD734879885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AE9B00-B51E-49C0-8EC8-D8179E7042E1}" type="datetimeFigureOut">
              <a:rPr lang="en-IN" smtClean="0"/>
              <a:t>12-12-2025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C8E05A-A28A-5F38-E103-85908E830D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D95977-F6D0-A0A5-8DE7-5C58623F34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DE6603-89EA-4E58-8A6C-37BF57F12F7A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201147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f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fif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.xml"/><Relationship Id="rId4" Type="http://schemas.microsoft.com/office/2007/relationships/hdphoto" Target="../media/hdphoto1.wdp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2090364-7873-2FC8-BEDF-946A059805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BD9C751-3905-0F74-66A1-205A769BF9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170" t="37621" r="26724" b="37761"/>
          <a:stretch>
            <a:fillRect/>
          </a:stretch>
        </p:blipFill>
        <p:spPr>
          <a:xfrm>
            <a:off x="1536971" y="3686783"/>
            <a:ext cx="1663430" cy="172179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F406A8E-9AD1-3715-8891-FB7B8A8FAE4A}"/>
              </a:ext>
            </a:extLst>
          </p:cNvPr>
          <p:cNvSpPr txBox="1"/>
          <p:nvPr/>
        </p:nvSpPr>
        <p:spPr>
          <a:xfrm>
            <a:off x="4422842" y="4363015"/>
            <a:ext cx="33463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Bodoni MT" panose="02070603080606020203" pitchFamily="18" charset="0"/>
              </a:rPr>
              <a:t>DATA ANALYSIS PROJECT</a:t>
            </a:r>
            <a:endParaRPr lang="en-IN" dirty="0">
              <a:latin typeface="Bodoni MT" panose="02070603080606020203" pitchFamily="18" charset="0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3664262-DC53-EB0F-AEFA-247B5381E9DF}"/>
              </a:ext>
            </a:extLst>
          </p:cNvPr>
          <p:cNvCxnSpPr>
            <a:cxnSpLocks/>
          </p:cNvCxnSpPr>
          <p:nvPr/>
        </p:nvCxnSpPr>
        <p:spPr>
          <a:xfrm>
            <a:off x="3289570" y="4129550"/>
            <a:ext cx="5612860" cy="0"/>
          </a:xfrm>
          <a:prstGeom prst="line">
            <a:avLst/>
          </a:prstGeom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481513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ABE64C0-7DBD-7E5C-73F1-1676840E22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565795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20F58C3-5707-58AE-DA89-1F869A252597}"/>
              </a:ext>
            </a:extLst>
          </p:cNvPr>
          <p:cNvSpPr txBox="1"/>
          <p:nvPr/>
        </p:nvSpPr>
        <p:spPr>
          <a:xfrm>
            <a:off x="1860414" y="73705"/>
            <a:ext cx="7893997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5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doni MT" panose="02070603080606020203" pitchFamily="18" charset="0"/>
              </a:rPr>
              <a:t>Business Problem Statement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2B8E300-E72D-BA32-2F8D-03F6E0CD3C34}"/>
              </a:ext>
            </a:extLst>
          </p:cNvPr>
          <p:cNvSpPr txBox="1"/>
          <p:nvPr/>
        </p:nvSpPr>
        <p:spPr>
          <a:xfrm>
            <a:off x="3565795" y="1009184"/>
            <a:ext cx="7990665" cy="5078313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b="1" dirty="0"/>
              <a:t>Customers face difficulty choosing the right restaurant</a:t>
            </a:r>
            <a:r>
              <a:rPr lang="en-US" dirty="0"/>
              <a:t> because of too many options and a lack of clear insight into ratings, price, and food categories.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/>
              <a:t>It is unclear which food categories generate the highest demand and revenue</a:t>
            </a:r>
            <a:r>
              <a:rPr lang="en-US" dirty="0"/>
              <a:t>, making it difficult to understand customer preferences.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/>
              <a:t>There is no clear visibility on high-performing and low-performing restaurants</a:t>
            </a:r>
            <a:r>
              <a:rPr lang="en-US" dirty="0"/>
              <a:t> based on rating, price, and number of orders.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/>
              <a:t>Price variation across similar restaurants and locations is inconsistent</a:t>
            </a:r>
            <a:r>
              <a:rPr lang="en-US" dirty="0"/>
              <a:t>, making it hard to determine whether customers are getting value for money.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/>
              <a:t>Demand patterns based on location and dish type are not clearly identified</a:t>
            </a:r>
            <a:r>
              <a:rPr lang="en-US" dirty="0"/>
              <a:t>, affecting better targeting and decision-making.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/>
              <a:t>Many restaurants with good ratings are still underperforming</a:t>
            </a:r>
            <a:r>
              <a:rPr lang="en-US" dirty="0"/>
              <a:t>, suggesting that visibility, pricing, or category placement may be affecting performance.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/>
              <a:t>There is no easy comparison between restaurants based on multiple factors</a:t>
            </a:r>
            <a:r>
              <a:rPr lang="en-US" dirty="0"/>
              <a:t> such as delivery time, rating, cost, and popularity.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/>
              <a:t>Seasonal and location-based ordering trends are hidden inside raw data</a:t>
            </a:r>
            <a:r>
              <a:rPr lang="en-US" dirty="0"/>
              <a:t>, making it difficult to identify high-demand areas.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/>
              <a:t>Without proper visual analysis, it's hard to convert raw Swiggy data into actionable business insights.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5192602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ECA6057-5F95-A28B-9DE8-ACE43D1103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57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C297D71-862C-8917-E3F6-03803CBCE76B}"/>
              </a:ext>
            </a:extLst>
          </p:cNvPr>
          <p:cNvSpPr txBox="1"/>
          <p:nvPr/>
        </p:nvSpPr>
        <p:spPr>
          <a:xfrm>
            <a:off x="3287948" y="262647"/>
            <a:ext cx="5340486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5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doni MT" panose="02070603080606020203" pitchFamily="18" charset="0"/>
              </a:rPr>
              <a:t>Project</a:t>
            </a:r>
            <a:r>
              <a:rPr lang="en-IN" sz="4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doni MT" panose="02070603080606020203" pitchFamily="18" charset="0"/>
              </a:rPr>
              <a:t> Objectives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E944011-01B9-5472-BDBB-B84A3DA02A6E}"/>
              </a:ext>
            </a:extLst>
          </p:cNvPr>
          <p:cNvSpPr txBox="1"/>
          <p:nvPr/>
        </p:nvSpPr>
        <p:spPr>
          <a:xfrm>
            <a:off x="4737370" y="1517515"/>
            <a:ext cx="4883285" cy="467820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Analyze customer ordering patterns based on time and location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Identify best and worst performing food categories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Study the relationship between price and customer rating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Optimize business strategy for peak &amp; non-peak hours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Provide data-driven recommendations to improve revenue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Develop an interactive business intelligence dashboard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Track monthly revenue trends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Find top-performing food categories</a:t>
            </a:r>
            <a:endParaRPr lang="en-US" sz="20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264999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D9D2FE1-667F-AE28-5D1C-7BEA3122EA6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-4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9231" y="15345"/>
            <a:ext cx="7485981" cy="684265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714B215-AA4F-1CEA-9878-3F20EA927D5A}"/>
              </a:ext>
            </a:extLst>
          </p:cNvPr>
          <p:cNvSpPr txBox="1"/>
          <p:nvPr/>
        </p:nvSpPr>
        <p:spPr>
          <a:xfrm>
            <a:off x="621823" y="386861"/>
            <a:ext cx="729649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doni MT" panose="02070603080606020203" pitchFamily="18" charset="0"/>
              </a:rPr>
              <a:t>Tools &amp; Technologies Used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7120319-52F2-A57F-4538-74F442CA9F96}"/>
              </a:ext>
            </a:extLst>
          </p:cNvPr>
          <p:cNvSpPr txBox="1"/>
          <p:nvPr/>
        </p:nvSpPr>
        <p:spPr>
          <a:xfrm>
            <a:off x="779585" y="1437217"/>
            <a:ext cx="7819292" cy="52014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latin typeface="Bodoni MT" panose="02070603080606020203" pitchFamily="18" charset="0"/>
              </a:rPr>
              <a:t>Excel </a:t>
            </a:r>
          </a:p>
          <a:p>
            <a:pPr marL="742950" lvl="1" indent="-28575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/>
              <a:t>Created pivot tables and basic charts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en-US" dirty="0"/>
              <a:t>Used for data cleaning, sorting, and initial analysis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latin typeface="Bodoni MT" panose="02070603080606020203" pitchFamily="18" charset="0"/>
              </a:rPr>
              <a:t>SQL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Used for extracting, filtering, and transforming data from the database</a:t>
            </a:r>
            <a:endParaRPr lang="en-US" dirty="0">
              <a:latin typeface="Bodoni MT" panose="02070603080606020203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Writing Business Queries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latin typeface="Bodoni MT" panose="02070603080606020203" pitchFamily="18" charset="0"/>
              </a:rPr>
              <a:t>Power BI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Visualization, DAX, </a:t>
            </a:r>
            <a:r>
              <a:rPr lang="en-IN" dirty="0"/>
              <a:t>Power Query</a:t>
            </a:r>
          </a:p>
          <a:p>
            <a:pPr lvl="1"/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latin typeface="Bodoni MT" panose="02070603080606020203" pitchFamily="18" charset="0"/>
              </a:rPr>
              <a:t>Python(Pandas, NumPy, Seaborn, Matplotlib)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Data cleaning and preprocessing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Data manipulation and analysis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Exploratory data analysis (EDA)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Creating visualizations</a:t>
            </a:r>
            <a:endParaRPr lang="en-US" dirty="0">
              <a:latin typeface="Bodoni MT" panose="02070603080606020203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>
              <a:latin typeface="Bodoni MT" panose="02070603080606020203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541621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E341CA3E-42FC-BA14-6F71-0D9976DDFA56}"/>
              </a:ext>
            </a:extLst>
          </p:cNvPr>
          <p:cNvSpPr txBox="1"/>
          <p:nvPr/>
        </p:nvSpPr>
        <p:spPr>
          <a:xfrm>
            <a:off x="0" y="475456"/>
            <a:ext cx="656698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doni MT" panose="02070603080606020203" pitchFamily="18" charset="0"/>
              </a:rPr>
              <a:t>D</a:t>
            </a:r>
            <a:r>
              <a:rPr lang="en-IN" sz="4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doni MT" panose="02070603080606020203" pitchFamily="18" charset="0"/>
              </a:rPr>
              <a:t>ataset Information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A015C41-6A97-375C-A35F-E74673B007BE}"/>
              </a:ext>
            </a:extLst>
          </p:cNvPr>
          <p:cNvSpPr txBox="1"/>
          <p:nvPr/>
        </p:nvSpPr>
        <p:spPr>
          <a:xfrm>
            <a:off x="638907" y="1519261"/>
            <a:ext cx="7026489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Bodoni MT" panose="02070603080606020203" pitchFamily="18" charset="0"/>
              </a:rPr>
              <a:t>Columns: </a:t>
            </a:r>
            <a:r>
              <a:rPr lang="en-US" dirty="0"/>
              <a:t>state, city, order_date, restaurant_name, location, category, dish_name, price, rating, rating_count, order_year, order_month, order_week, day_of_week, hour, weekend</a:t>
            </a:r>
            <a:endParaRPr lang="en-US" sz="2000" dirty="0"/>
          </a:p>
          <a:p>
            <a:endParaRPr lang="en-US" sz="2000" dirty="0">
              <a:latin typeface="Bodoni MT" panose="02070603080606020203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Bodoni MT" panose="02070603080606020203" pitchFamily="18" charset="0"/>
              </a:rPr>
              <a:t>Source: </a:t>
            </a:r>
            <a:r>
              <a:rPr lang="en-US" altLang="en-US" dirty="0"/>
              <a:t>Swiggy </a:t>
            </a:r>
            <a:r>
              <a:rPr lang="en-US" altLang="en-US" sz="2000" dirty="0"/>
              <a:t>Public</a:t>
            </a:r>
            <a:r>
              <a:rPr lang="en-US" altLang="en-US" sz="2000" dirty="0">
                <a:latin typeface="Bodoni MT" panose="02070603080606020203" pitchFamily="18" charset="0"/>
              </a:rPr>
              <a:t> </a:t>
            </a:r>
            <a:r>
              <a:rPr lang="en-US" altLang="en-US" dirty="0"/>
              <a:t>dataset</a:t>
            </a:r>
          </a:p>
          <a:p>
            <a:endParaRPr lang="en-US" sz="2000" dirty="0">
              <a:latin typeface="Bodoni MT" panose="02070603080606020203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Bodoni MT" panose="02070603080606020203" pitchFamily="18" charset="0"/>
              </a:rPr>
              <a:t>Size: </a:t>
            </a:r>
            <a:r>
              <a:rPr lang="en-IN" dirty="0"/>
              <a:t>197000+ records</a:t>
            </a:r>
          </a:p>
          <a:p>
            <a:endParaRPr lang="en-IN" sz="2000" dirty="0">
              <a:latin typeface="Bodoni MT" panose="02070603080606020203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Bodoni MT" panose="02070603080606020203" pitchFamily="18" charset="0"/>
              </a:rPr>
              <a:t>Format: </a:t>
            </a:r>
            <a:r>
              <a:rPr lang="en-IN" dirty="0"/>
              <a:t>Excel/xlsx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000" dirty="0">
              <a:latin typeface="Bodoni MT" panose="02070603080606020203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BE1B50F-8B55-1F4A-97E5-1A171665F4B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9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98000"/>
                    </a14:imgEffect>
                    <a14:imgEffect>
                      <a14:brightnessContrast contrast="-4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5511" y="0"/>
            <a:ext cx="7026489" cy="6879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10636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  <a:alpha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8921C8B-D467-B53B-545C-0182D1C3E3D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9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98000"/>
                    </a14:imgEffect>
                    <a14:imgEffect>
                      <a14:brightnessContrast contrast="-4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9231" y="15345"/>
            <a:ext cx="7485981" cy="684265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B2F02F7-51AD-BFE5-5FE6-3F6B08191CF5}"/>
              </a:ext>
            </a:extLst>
          </p:cNvPr>
          <p:cNvSpPr txBox="1"/>
          <p:nvPr/>
        </p:nvSpPr>
        <p:spPr>
          <a:xfrm>
            <a:off x="398583" y="146329"/>
            <a:ext cx="39623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doni MT" panose="02070603080606020203" pitchFamily="18" charset="0"/>
              </a:rPr>
              <a:t>M</a:t>
            </a:r>
            <a:r>
              <a:rPr lang="en-IN" sz="4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doni MT" panose="02070603080606020203" pitchFamily="18" charset="0"/>
              </a:rPr>
              <a:t>ethodology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ACBB9DB-74E0-6454-71F1-1A1EAABD188B}"/>
              </a:ext>
            </a:extLst>
          </p:cNvPr>
          <p:cNvSpPr txBox="1"/>
          <p:nvPr/>
        </p:nvSpPr>
        <p:spPr>
          <a:xfrm>
            <a:off x="398583" y="1217859"/>
            <a:ext cx="6096002" cy="5078313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b="1" dirty="0"/>
              <a:t>Data collection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Swiggy online food delivery dataset (197,000+ rows)</a:t>
            </a:r>
          </a:p>
          <a:p>
            <a:pPr marL="342900" indent="-342900">
              <a:buFont typeface="+mj-lt"/>
              <a:buAutoNum type="arabicPeriod"/>
            </a:pPr>
            <a:r>
              <a:rPr lang="en-IN" b="1" dirty="0"/>
              <a:t>Data Exploration – Excel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Data validation &amp; cross-checking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Pivot tables for quick summaries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Basic charts 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/>
              <a:t>Data Cleaning &amp; Preparation – Python (Pandas, NumPy)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Removed null and duplicate values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Standardized date and time formats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dirty="0"/>
              <a:t>Created new features: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IN" dirty="0"/>
              <a:t>Order Year, Month, Hour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dirty="0"/>
              <a:t>Day of Week, Weekend / Weekday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IN" dirty="0"/>
              <a:t>Price Bucket &amp; Rating Bucket</a:t>
            </a:r>
          </a:p>
          <a:p>
            <a:pPr marL="342900" indent="-342900">
              <a:buFont typeface="+mj-lt"/>
              <a:buAutoNum type="arabicPeriod"/>
            </a:pPr>
            <a:r>
              <a:rPr lang="en-IN" b="1" dirty="0"/>
              <a:t>Data Analysis – SQL (PostgreSQL)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dirty="0"/>
              <a:t>50+ business queries executed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dirty="0"/>
              <a:t>Basic: Filtering, sorting, grouping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dirty="0"/>
              <a:t>Intermediate: Joins, sub-queries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dirty="0"/>
              <a:t>Advanced: CTEs &amp; window functions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25CE2F0-35A7-03F6-414C-39603BECA5E2}"/>
              </a:ext>
            </a:extLst>
          </p:cNvPr>
          <p:cNvSpPr txBox="1"/>
          <p:nvPr/>
        </p:nvSpPr>
        <p:spPr>
          <a:xfrm>
            <a:off x="6611813" y="1217859"/>
            <a:ext cx="5412070" cy="313932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342900" indent="-342900">
              <a:buAutoNum type="arabicPeriod" startAt="5"/>
            </a:pPr>
            <a:r>
              <a:rPr lang="en-IN" b="1" dirty="0"/>
              <a:t>Data Visualization – Power BI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Developed 4 interactive dashboard pages: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dirty="0"/>
              <a:t>Executive Overview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dirty="0"/>
              <a:t>City &amp; Location Performance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dirty="0"/>
              <a:t>Restaurant &amp; Category Analysis 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dirty="0"/>
              <a:t>Time &amp; Customer Behavior</a:t>
            </a:r>
          </a:p>
          <a:p>
            <a:pPr marL="342900" indent="-342900">
              <a:buAutoNum type="arabicPeriod" startAt="6"/>
            </a:pPr>
            <a:r>
              <a:rPr lang="en-IN" b="1" dirty="0"/>
              <a:t>Interpretation &amp; Business Strategy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Identified key patterns and trends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Converted insights into actionable business recommendations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189455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5F62BA0-8C06-D236-8E8D-1FF6029628D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9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98000"/>
                    </a14:imgEffect>
                    <a14:imgEffect>
                      <a14:brightnessContrast contrast="-4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9231" y="15345"/>
            <a:ext cx="7485981" cy="684265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8A21FE3-43D2-BF45-4D76-ABABE22C6058}"/>
              </a:ext>
            </a:extLst>
          </p:cNvPr>
          <p:cNvSpPr txBox="1"/>
          <p:nvPr/>
        </p:nvSpPr>
        <p:spPr>
          <a:xfrm>
            <a:off x="352565" y="199293"/>
            <a:ext cx="396239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doni MT" panose="02070603080606020203" pitchFamily="18" charset="0"/>
              </a:rPr>
              <a:t>Dashboard</a:t>
            </a:r>
            <a:endParaRPr lang="en-IN" sz="44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Bodoni MT" panose="02070603080606020203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8AC7852-111B-B2E8-216F-CA466C78C56C}"/>
              </a:ext>
            </a:extLst>
          </p:cNvPr>
          <p:cNvSpPr txBox="1"/>
          <p:nvPr/>
        </p:nvSpPr>
        <p:spPr>
          <a:xfrm>
            <a:off x="556846" y="968734"/>
            <a:ext cx="8264770" cy="4585871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sz="2800" b="1" dirty="0"/>
              <a:t>Executive Overview</a:t>
            </a:r>
          </a:p>
          <a:p>
            <a:r>
              <a:rPr lang="en-IN" dirty="0"/>
              <a:t>Included: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000" dirty="0"/>
              <a:t>KPI Cards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IN" dirty="0"/>
              <a:t>Total Revenue </a:t>
            </a:r>
            <a:r>
              <a:rPr lang="en-IN" b="1" dirty="0"/>
              <a:t>[ ₹ </a:t>
            </a:r>
            <a:r>
              <a:rPr lang="en-IN" b="1" dirty="0">
                <a:solidFill>
                  <a:schemeClr val="accent1">
                    <a:lumMod val="75000"/>
                  </a:schemeClr>
                </a:solidFill>
              </a:rPr>
              <a:t>53.03 Million </a:t>
            </a:r>
            <a:r>
              <a:rPr lang="en-IN" b="1" dirty="0"/>
              <a:t>]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IN" dirty="0"/>
              <a:t>Total Order </a:t>
            </a:r>
            <a:r>
              <a:rPr lang="en-IN" b="1" dirty="0"/>
              <a:t>[ </a:t>
            </a:r>
            <a:r>
              <a:rPr lang="en-IN" b="1" dirty="0">
                <a:solidFill>
                  <a:schemeClr val="accent1">
                    <a:lumMod val="75000"/>
                  </a:schemeClr>
                </a:solidFill>
              </a:rPr>
              <a:t>197 K </a:t>
            </a:r>
            <a:r>
              <a:rPr lang="en-IN" b="1" dirty="0"/>
              <a:t>]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IN" dirty="0"/>
              <a:t>Average Order Value </a:t>
            </a:r>
            <a:r>
              <a:rPr lang="en-IN" b="1" dirty="0"/>
              <a:t>[ ₹ </a:t>
            </a:r>
            <a:r>
              <a:rPr lang="en-IN" b="1" dirty="0">
                <a:solidFill>
                  <a:schemeClr val="accent1">
                    <a:lumMod val="75000"/>
                  </a:schemeClr>
                </a:solidFill>
              </a:rPr>
              <a:t>268.5</a:t>
            </a:r>
            <a:r>
              <a:rPr lang="en-IN" b="1" dirty="0"/>
              <a:t> ]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IN" dirty="0"/>
              <a:t>Average Rating </a:t>
            </a:r>
            <a:r>
              <a:rPr lang="en-IN" b="1" dirty="0"/>
              <a:t>[ </a:t>
            </a:r>
            <a:r>
              <a:rPr lang="en-IN" b="1" dirty="0">
                <a:solidFill>
                  <a:schemeClr val="accent1">
                    <a:lumMod val="75000"/>
                  </a:schemeClr>
                </a:solidFill>
              </a:rPr>
              <a:t>4.34</a:t>
            </a:r>
            <a:r>
              <a:rPr lang="en-IN" b="1" dirty="0"/>
              <a:t> ]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IN" dirty="0"/>
              <a:t>Total Rating Count </a:t>
            </a:r>
            <a:r>
              <a:rPr lang="en-IN" b="1" dirty="0"/>
              <a:t>[ </a:t>
            </a:r>
            <a:r>
              <a:rPr lang="en-IN" b="1" dirty="0">
                <a:solidFill>
                  <a:schemeClr val="accent1">
                    <a:lumMod val="75000"/>
                  </a:schemeClr>
                </a:solidFill>
              </a:rPr>
              <a:t>5.59 Million </a:t>
            </a:r>
            <a:r>
              <a:rPr lang="en-IN" b="1" dirty="0"/>
              <a:t>]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000" dirty="0"/>
              <a:t>Monthly Revenue </a:t>
            </a:r>
            <a:r>
              <a:rPr lang="en-IN" sz="2000" b="1" dirty="0"/>
              <a:t>(Line Chart)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000" dirty="0"/>
              <a:t>Revenue By City </a:t>
            </a:r>
            <a:r>
              <a:rPr lang="en-IN" sz="2000" b="1" dirty="0"/>
              <a:t>(Bar Chart)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000" dirty="0"/>
              <a:t>Category Wise Revenue </a:t>
            </a:r>
            <a:r>
              <a:rPr lang="en-IN" sz="2000" b="1" dirty="0"/>
              <a:t>(Donut Chart)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000" dirty="0"/>
              <a:t>Order By Category </a:t>
            </a:r>
            <a:r>
              <a:rPr lang="en-IN" sz="2000" b="1" dirty="0"/>
              <a:t>(Donut Chart)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000" dirty="0"/>
              <a:t>Top Performing Restaurant </a:t>
            </a:r>
            <a:r>
              <a:rPr lang="en-IN" sz="2000" b="1" dirty="0"/>
              <a:t>(Table)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Purpose: </a:t>
            </a:r>
            <a:r>
              <a:rPr lang="en-US" dirty="0"/>
              <a:t>Give decision-makers a quick overview of performance.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252047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FC202AA-FEF4-119D-97B4-3BFAE54755F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9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98000"/>
                    </a14:imgEffect>
                    <a14:imgEffect>
                      <a14:brightnessContrast contrast="-4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9231" y="15345"/>
            <a:ext cx="7485981" cy="684265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AB7CD90-A937-C742-E4AA-A37AB66CAF6B}"/>
              </a:ext>
            </a:extLst>
          </p:cNvPr>
          <p:cNvSpPr txBox="1"/>
          <p:nvPr/>
        </p:nvSpPr>
        <p:spPr>
          <a:xfrm>
            <a:off x="357257" y="199293"/>
            <a:ext cx="396239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doni MT" panose="02070603080606020203" pitchFamily="18" charset="0"/>
              </a:rPr>
              <a:t>Dashboard</a:t>
            </a:r>
            <a:endParaRPr lang="en-IN" sz="4400" dirty="0">
              <a:latin typeface="Bodoni MT" panose="02070603080606020203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0D24AC-D410-4448-6C71-3C18FEB6A714}"/>
              </a:ext>
            </a:extLst>
          </p:cNvPr>
          <p:cNvSpPr txBox="1"/>
          <p:nvPr/>
        </p:nvSpPr>
        <p:spPr>
          <a:xfrm>
            <a:off x="556846" y="968734"/>
            <a:ext cx="8264770" cy="3447098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800" b="1" dirty="0"/>
              <a:t>2. City &amp; Location Performance</a:t>
            </a:r>
          </a:p>
          <a:p>
            <a:r>
              <a:rPr lang="en-IN" dirty="0"/>
              <a:t>Included: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000" dirty="0"/>
              <a:t>KPI Cards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IN" dirty="0"/>
              <a:t>Total Location </a:t>
            </a:r>
            <a:r>
              <a:rPr lang="en-IN" b="1" dirty="0"/>
              <a:t>[ </a:t>
            </a:r>
            <a:r>
              <a:rPr lang="en-IN" b="1" dirty="0">
                <a:solidFill>
                  <a:schemeClr val="accent1">
                    <a:lumMod val="75000"/>
                  </a:schemeClr>
                </a:solidFill>
              </a:rPr>
              <a:t>942 </a:t>
            </a:r>
            <a:r>
              <a:rPr lang="en-IN" b="1" dirty="0"/>
              <a:t>]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IN" dirty="0"/>
              <a:t>Total Order Category </a:t>
            </a:r>
            <a:r>
              <a:rPr lang="en-IN" b="1" dirty="0"/>
              <a:t>[ </a:t>
            </a:r>
            <a:r>
              <a:rPr lang="en-IN" b="1" dirty="0">
                <a:solidFill>
                  <a:schemeClr val="accent1">
                    <a:lumMod val="75000"/>
                  </a:schemeClr>
                </a:solidFill>
              </a:rPr>
              <a:t>4.7K+</a:t>
            </a:r>
            <a:r>
              <a:rPr lang="en-IN" b="1" dirty="0"/>
              <a:t>]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000" dirty="0"/>
              <a:t>City Wise Category Count </a:t>
            </a:r>
            <a:r>
              <a:rPr lang="en-IN" sz="2000" b="1" dirty="0"/>
              <a:t>(Column Chart)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000" dirty="0"/>
              <a:t>Orders By Area </a:t>
            </a:r>
            <a:r>
              <a:rPr lang="en-IN" sz="2000" b="1" dirty="0"/>
              <a:t>(Table)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000" dirty="0"/>
              <a:t>Revenue Distribution By Location </a:t>
            </a:r>
            <a:r>
              <a:rPr lang="en-IN" sz="2000" b="1" dirty="0"/>
              <a:t>(Column Chart)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000" dirty="0"/>
              <a:t>Order Flow By City </a:t>
            </a:r>
            <a:r>
              <a:rPr lang="en-IN" sz="2000" b="1" dirty="0"/>
              <a:t>(Funnel Chart)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Orders Vs Revenue By City </a:t>
            </a:r>
            <a:r>
              <a:rPr lang="en-US" sz="2000" b="1" dirty="0"/>
              <a:t>(Line Chart)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Purpose:  </a:t>
            </a:r>
            <a:r>
              <a:rPr lang="en-US" dirty="0"/>
              <a:t>Find</a:t>
            </a:r>
            <a:r>
              <a:rPr lang="en-US" b="1" dirty="0"/>
              <a:t> </a:t>
            </a:r>
            <a:r>
              <a:rPr lang="en-IN" dirty="0"/>
              <a:t>Regional level insights</a:t>
            </a:r>
          </a:p>
        </p:txBody>
      </p:sp>
    </p:spTree>
    <p:extLst>
      <p:ext uri="{BB962C8B-B14F-4D97-AF65-F5344CB8AC3E}">
        <p14:creationId xmlns:p14="http://schemas.microsoft.com/office/powerpoint/2010/main" val="56228768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C29E864-6F1D-7F9C-8FF5-1D1993881BC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9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98000"/>
                    </a14:imgEffect>
                    <a14:imgEffect>
                      <a14:brightnessContrast contrast="-4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9231" y="15345"/>
            <a:ext cx="7485981" cy="684265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DBE552B-6890-B3FB-7801-360381F57D6E}"/>
              </a:ext>
            </a:extLst>
          </p:cNvPr>
          <p:cNvSpPr txBox="1"/>
          <p:nvPr/>
        </p:nvSpPr>
        <p:spPr>
          <a:xfrm>
            <a:off x="337801" y="199293"/>
            <a:ext cx="396239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doni MT" panose="02070603080606020203" pitchFamily="18" charset="0"/>
              </a:rPr>
              <a:t>Dashboard</a:t>
            </a:r>
            <a:endParaRPr lang="en-IN" sz="4400" dirty="0">
              <a:latin typeface="Bodoni MT" panose="02070603080606020203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D65BD64-9EEF-EB03-F8CB-D11A6D1C6FC9}"/>
              </a:ext>
            </a:extLst>
          </p:cNvPr>
          <p:cNvSpPr txBox="1"/>
          <p:nvPr/>
        </p:nvSpPr>
        <p:spPr>
          <a:xfrm>
            <a:off x="556846" y="968734"/>
            <a:ext cx="8264770" cy="3170099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800" b="1" dirty="0"/>
              <a:t>3. Restaurant &amp; Category Analysis</a:t>
            </a:r>
          </a:p>
          <a:p>
            <a:r>
              <a:rPr lang="en-IN" dirty="0"/>
              <a:t>Included: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000" dirty="0"/>
              <a:t>KPI Cards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IN" dirty="0"/>
              <a:t>Total Restaurants </a:t>
            </a:r>
            <a:r>
              <a:rPr lang="en-IN" b="1" dirty="0"/>
              <a:t>[ </a:t>
            </a:r>
            <a:r>
              <a:rPr lang="en-IN" b="1" dirty="0">
                <a:solidFill>
                  <a:schemeClr val="accent1">
                    <a:lumMod val="75000"/>
                  </a:schemeClr>
                </a:solidFill>
              </a:rPr>
              <a:t>984 </a:t>
            </a:r>
            <a:r>
              <a:rPr lang="en-IN" b="1" dirty="0"/>
              <a:t>]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IN" dirty="0"/>
              <a:t>Peak Hour Orders </a:t>
            </a:r>
            <a:r>
              <a:rPr lang="en-IN" b="1" dirty="0"/>
              <a:t>[ </a:t>
            </a:r>
            <a:r>
              <a:rPr lang="en-IN" b="1" dirty="0">
                <a:solidFill>
                  <a:schemeClr val="accent1">
                    <a:lumMod val="75000"/>
                  </a:schemeClr>
                </a:solidFill>
              </a:rPr>
              <a:t>17K </a:t>
            </a:r>
            <a:r>
              <a:rPr lang="en-IN" b="1" dirty="0"/>
              <a:t>]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000" dirty="0"/>
              <a:t>Category Performance </a:t>
            </a:r>
            <a:r>
              <a:rPr lang="en-IN" sz="2000" b="1" dirty="0"/>
              <a:t>(Table)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000" dirty="0"/>
              <a:t>Restaurant Performance Summary </a:t>
            </a:r>
            <a:r>
              <a:rPr lang="en-IN" sz="2000" b="1" dirty="0"/>
              <a:t>(Table)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000" dirty="0"/>
              <a:t>Category Rank Over Time </a:t>
            </a:r>
            <a:r>
              <a:rPr lang="en-IN" sz="2000" b="1" dirty="0"/>
              <a:t>(Line &amp; Clustered Column Chart)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Category Contribution </a:t>
            </a:r>
            <a:r>
              <a:rPr lang="en-US" sz="2000" b="1" dirty="0"/>
              <a:t>(Pie Chart)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Purpose:  </a:t>
            </a:r>
            <a:r>
              <a:rPr lang="en-US" dirty="0"/>
              <a:t>Find best and worst performing restaurants in every category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421813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2413E90-B61F-1C45-14CC-26E2BB6E201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9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98000"/>
                    </a14:imgEffect>
                    <a14:imgEffect>
                      <a14:brightnessContrast contrast="-4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9231" y="15345"/>
            <a:ext cx="7485981" cy="684265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F7C9853-FCEF-D594-9DFC-B20ECA487A68}"/>
              </a:ext>
            </a:extLst>
          </p:cNvPr>
          <p:cNvSpPr txBox="1"/>
          <p:nvPr/>
        </p:nvSpPr>
        <p:spPr>
          <a:xfrm>
            <a:off x="347528" y="195261"/>
            <a:ext cx="396239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doni MT" panose="02070603080606020203" pitchFamily="18" charset="0"/>
              </a:rPr>
              <a:t>Dashboard</a:t>
            </a:r>
            <a:endParaRPr lang="en-IN" sz="4400" dirty="0">
              <a:latin typeface="Bodoni MT" panose="02070603080606020203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25E8305-8646-1342-68AA-29F13FA84C84}"/>
              </a:ext>
            </a:extLst>
          </p:cNvPr>
          <p:cNvSpPr txBox="1"/>
          <p:nvPr/>
        </p:nvSpPr>
        <p:spPr>
          <a:xfrm>
            <a:off x="556846" y="964702"/>
            <a:ext cx="8264770" cy="2923877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800" b="1" dirty="0"/>
              <a:t>4. Time &amp; Customer Behavior</a:t>
            </a:r>
          </a:p>
          <a:p>
            <a:r>
              <a:rPr lang="en-IN" dirty="0"/>
              <a:t>Included: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000" dirty="0"/>
              <a:t>Orders By Hour &amp; Month </a:t>
            </a:r>
            <a:r>
              <a:rPr lang="en-IN" b="1" dirty="0"/>
              <a:t>(Table)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000" dirty="0"/>
              <a:t>Orders Breakdown </a:t>
            </a:r>
            <a:r>
              <a:rPr lang="en-IN" b="1" dirty="0"/>
              <a:t>(Decomposition Tree)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000" dirty="0"/>
              <a:t>Category Rank Over Time </a:t>
            </a:r>
            <a:r>
              <a:rPr lang="en-IN" b="1" dirty="0"/>
              <a:t>(Line &amp; Clustered Column Chart)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Day Wise Performance </a:t>
            </a:r>
            <a:r>
              <a:rPr lang="en-US" dirty="0"/>
              <a:t>(</a:t>
            </a:r>
            <a:r>
              <a:rPr lang="en-US" b="1" dirty="0"/>
              <a:t>Table)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Weekend Vs Weekday Order </a:t>
            </a:r>
            <a:r>
              <a:rPr lang="en-US" b="1" dirty="0"/>
              <a:t>(Donut Chart)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Hourly Revenue Trend </a:t>
            </a:r>
            <a:r>
              <a:rPr lang="en-US" b="1" dirty="0"/>
              <a:t>(Tree Map)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Purpose:  </a:t>
            </a:r>
            <a:r>
              <a:rPr lang="en-IN" dirty="0"/>
              <a:t>Understand ordering patterns</a:t>
            </a:r>
          </a:p>
        </p:txBody>
      </p:sp>
    </p:spTree>
    <p:extLst>
      <p:ext uri="{BB962C8B-B14F-4D97-AF65-F5344CB8AC3E}">
        <p14:creationId xmlns:p14="http://schemas.microsoft.com/office/powerpoint/2010/main" val="1527186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897BBB5-C126-5BDA-538C-23DCDAEB5AFC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9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98000"/>
                    </a14:imgEffect>
                    <a14:imgEffect>
                      <a14:brightnessContrast contrast="-4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6019" y="1"/>
            <a:ext cx="7485981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A954C71-3E81-2E0B-BB83-55C6B3C76ACF}"/>
              </a:ext>
            </a:extLst>
          </p:cNvPr>
          <p:cNvSpPr txBox="1"/>
          <p:nvPr/>
        </p:nvSpPr>
        <p:spPr>
          <a:xfrm>
            <a:off x="1180237" y="133214"/>
            <a:ext cx="396239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doni MT" panose="02070603080606020203" pitchFamily="18" charset="0"/>
              </a:rPr>
              <a:t>Final Insights</a:t>
            </a:r>
            <a:endParaRPr lang="en-IN" sz="44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Bodoni MT" panose="02070603080606020203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BEF6B8-0B94-8CFA-84DC-0E114F8D2057}"/>
              </a:ext>
            </a:extLst>
          </p:cNvPr>
          <p:cNvSpPr txBox="1"/>
          <p:nvPr/>
        </p:nvSpPr>
        <p:spPr>
          <a:xfrm>
            <a:off x="1045429" y="902655"/>
            <a:ext cx="10101141" cy="5621713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IN" b="1" dirty="0">
                <a:solidFill>
                  <a:srgbClr val="FF0000"/>
                </a:solidFill>
              </a:rPr>
              <a:t>Overall Performance Summary: </a:t>
            </a:r>
            <a:r>
              <a:rPr lang="en-US" dirty="0"/>
              <a:t>The Swiggy dataset contains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197K</a:t>
            </a:r>
            <a:r>
              <a:rPr lang="en-US" dirty="0"/>
              <a:t> total orders across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4,437</a:t>
            </a:r>
            <a:r>
              <a:rPr lang="en-US" dirty="0"/>
              <a:t>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categories</a:t>
            </a:r>
            <a:r>
              <a:rPr lang="en-US" dirty="0"/>
              <a:t>,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942 locations</a:t>
            </a:r>
            <a:r>
              <a:rPr lang="en-US" dirty="0"/>
              <a:t>, and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28 states</a:t>
            </a:r>
            <a:r>
              <a:rPr lang="en-US" dirty="0"/>
              <a:t>, generating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₹53 Million </a:t>
            </a:r>
            <a:r>
              <a:rPr lang="en-US" dirty="0"/>
              <a:t>in revenue. The Average Order Value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(AOV) </a:t>
            </a:r>
            <a:r>
              <a:rPr lang="en-US" dirty="0"/>
              <a:t>of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₹268 </a:t>
            </a:r>
            <a:r>
              <a:rPr lang="en-US" dirty="0"/>
              <a:t>indicates that customer spending is largely driven by </a:t>
            </a:r>
            <a:r>
              <a:rPr lang="en-US" b="1" dirty="0"/>
              <a:t>mid-range purchases </a:t>
            </a:r>
            <a:r>
              <a:rPr lang="en-US" dirty="0"/>
              <a:t>rather than premium, high-value orders.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Total records analyzed: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197,000+ </a:t>
            </a:r>
            <a:r>
              <a:rPr lang="en-US" dirty="0"/>
              <a:t>orders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Peak hours contribution: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~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33%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dirty="0"/>
              <a:t>of total revenue (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morning time</a:t>
            </a:r>
            <a:r>
              <a:rPr lang="en-US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Top 3 restaurants by revenue: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KFC</a:t>
            </a:r>
            <a:r>
              <a:rPr lang="en-IN" dirty="0"/>
              <a:t> – </a:t>
            </a:r>
            <a:r>
              <a:rPr lang="en-IN" b="1" dirty="0">
                <a:solidFill>
                  <a:schemeClr val="accent1">
                    <a:lumMod val="75000"/>
                  </a:schemeClr>
                </a:solidFill>
              </a:rPr>
              <a:t>4.25M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IN" dirty="0"/>
              <a:t>McDonald’s – </a:t>
            </a:r>
            <a:r>
              <a:rPr lang="en-IN" b="1" dirty="0">
                <a:solidFill>
                  <a:schemeClr val="accent1">
                    <a:lumMod val="75000"/>
                  </a:schemeClr>
                </a:solidFill>
              </a:rPr>
              <a:t>3.34M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IN" dirty="0"/>
              <a:t>Pizza Hut – </a:t>
            </a:r>
            <a:r>
              <a:rPr lang="en-IN" b="1" dirty="0">
                <a:solidFill>
                  <a:schemeClr val="accent1">
                    <a:lumMod val="75000"/>
                  </a:schemeClr>
                </a:solidFill>
              </a:rPr>
              <a:t>2.13M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Top 3 cities by revenue: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IN" dirty="0"/>
              <a:t>Bangalore – </a:t>
            </a:r>
            <a:r>
              <a:rPr lang="en-IN" b="1" dirty="0">
                <a:solidFill>
                  <a:schemeClr val="accent1">
                    <a:lumMod val="75000"/>
                  </a:schemeClr>
                </a:solidFill>
              </a:rPr>
              <a:t>5.5M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IN" dirty="0"/>
              <a:t>Lucknow – </a:t>
            </a:r>
            <a:r>
              <a:rPr lang="en-IN" b="1" dirty="0">
                <a:solidFill>
                  <a:schemeClr val="accent1">
                    <a:lumMod val="75000"/>
                  </a:schemeClr>
                </a:solidFill>
              </a:rPr>
              <a:t>3.1M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IN" dirty="0"/>
              <a:t>Hyderabad &amp; Mumbai – </a:t>
            </a:r>
            <a:r>
              <a:rPr lang="en-IN" b="1" dirty="0">
                <a:solidFill>
                  <a:schemeClr val="accent1">
                    <a:lumMod val="75000"/>
                  </a:schemeClr>
                </a:solidFill>
              </a:rPr>
              <a:t>3.0M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Recommended</a:t>
            </a:r>
            <a:r>
              <a:rPr lang="en-IN" dirty="0"/>
              <a:t> category contribution: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accent1">
                    <a:lumMod val="75000"/>
                  </a:schemeClr>
                </a:solidFill>
              </a:rPr>
              <a:t>14%</a:t>
            </a:r>
            <a:r>
              <a:rPr lang="en-IN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IN" dirty="0"/>
              <a:t>of total orders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accent1">
                    <a:lumMod val="75000"/>
                  </a:schemeClr>
                </a:solidFill>
              </a:rPr>
              <a:t>16%</a:t>
            </a:r>
            <a:r>
              <a:rPr lang="en-IN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IN" dirty="0"/>
              <a:t>of total revenue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High-rated restaurants (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4.0+)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dirty="0"/>
              <a:t>show </a:t>
            </a:r>
            <a:r>
              <a:rPr lang="en-US" b="1" dirty="0"/>
              <a:t>stronger revenue consistency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Revenue concentration:</a:t>
            </a:r>
            <a:r>
              <a:rPr lang="en-US" dirty="0"/>
              <a:t> Top Cities &amp; Brands contribute majority of total revenue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0B607C9-9728-E308-1D19-19F302211792}"/>
              </a:ext>
            </a:extLst>
          </p:cNvPr>
          <p:cNvSpPr txBox="1"/>
          <p:nvPr/>
        </p:nvSpPr>
        <p:spPr>
          <a:xfrm>
            <a:off x="6659773" y="2559349"/>
            <a:ext cx="403697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Top 3 locations by revenue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/>
              <a:t>Gomati Nagar </a:t>
            </a:r>
            <a:r>
              <a:rPr lang="en-IN" dirty="0"/>
              <a:t>– </a:t>
            </a:r>
            <a:r>
              <a:rPr lang="en-IN" b="1" dirty="0">
                <a:solidFill>
                  <a:schemeClr val="accent1">
                    <a:lumMod val="75000"/>
                  </a:schemeClr>
                </a:solidFill>
              </a:rPr>
              <a:t>720K</a:t>
            </a:r>
            <a:endParaRPr lang="en-US" b="1" dirty="0">
              <a:solidFill>
                <a:schemeClr val="accent1">
                  <a:lumMod val="75000"/>
                </a:schemeClr>
              </a:solidFill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/>
              <a:t>Whitefield </a:t>
            </a:r>
            <a:r>
              <a:rPr lang="en-IN" dirty="0"/>
              <a:t>– </a:t>
            </a:r>
            <a:r>
              <a:rPr lang="en-IN" b="1" dirty="0">
                <a:solidFill>
                  <a:schemeClr val="accent1">
                    <a:lumMod val="75000"/>
                  </a:schemeClr>
                </a:solidFill>
              </a:rPr>
              <a:t>676K</a:t>
            </a:r>
            <a:endParaRPr lang="en-US" b="1" dirty="0">
              <a:solidFill>
                <a:schemeClr val="accent1">
                  <a:lumMod val="75000"/>
                </a:schemeClr>
              </a:solidFill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/>
              <a:t>Yelahanka </a:t>
            </a:r>
            <a:r>
              <a:rPr lang="en-IN" dirty="0"/>
              <a:t>– </a:t>
            </a:r>
            <a:r>
              <a:rPr lang="en-IN" b="1" dirty="0">
                <a:solidFill>
                  <a:schemeClr val="accent1">
                    <a:lumMod val="75000"/>
                  </a:schemeClr>
                </a:solidFill>
              </a:rPr>
              <a:t>581K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Top 3 area by order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IN" dirty="0"/>
              <a:t>Yelahanka – </a:t>
            </a:r>
            <a:r>
              <a:rPr lang="en-IN" b="1" dirty="0">
                <a:solidFill>
                  <a:schemeClr val="accent1">
                    <a:lumMod val="75000"/>
                  </a:schemeClr>
                </a:solidFill>
              </a:rPr>
              <a:t>2283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IN" dirty="0"/>
              <a:t>Gomati Nagar – </a:t>
            </a:r>
            <a:r>
              <a:rPr lang="en-IN" b="1" dirty="0">
                <a:solidFill>
                  <a:schemeClr val="accent1">
                    <a:lumMod val="75000"/>
                  </a:schemeClr>
                </a:solidFill>
              </a:rPr>
              <a:t>2221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IN" dirty="0"/>
              <a:t>Whitefield –  </a:t>
            </a:r>
            <a:r>
              <a:rPr lang="en-IN" b="1" dirty="0">
                <a:solidFill>
                  <a:schemeClr val="accent1">
                    <a:lumMod val="75000"/>
                  </a:schemeClr>
                </a:solidFill>
              </a:rPr>
              <a:t>2131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8C650B9-43BA-475E-EF61-6EFD8BD1150C}"/>
              </a:ext>
            </a:extLst>
          </p:cNvPr>
          <p:cNvSpPr txBox="1"/>
          <p:nvPr/>
        </p:nvSpPr>
        <p:spPr>
          <a:xfrm>
            <a:off x="1045429" y="2615511"/>
            <a:ext cx="10101141" cy="2196000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42796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1DD2D39-1B5A-6A48-3AB4-7F9E52F2AA5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9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98000"/>
                    </a14:imgEffect>
                    <a14:imgEffect>
                      <a14:brightnessContrast contrast="-4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9231" y="15345"/>
            <a:ext cx="7485981" cy="684265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EC7B535-B2B4-94D0-30EE-3EFFD4D06C3B}"/>
              </a:ext>
            </a:extLst>
          </p:cNvPr>
          <p:cNvSpPr txBox="1"/>
          <p:nvPr/>
        </p:nvSpPr>
        <p:spPr>
          <a:xfrm>
            <a:off x="909814" y="133214"/>
            <a:ext cx="396239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doni MT" panose="02070603080606020203" pitchFamily="18" charset="0"/>
              </a:rPr>
              <a:t>Final Insights</a:t>
            </a:r>
            <a:endParaRPr lang="en-IN" sz="44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Bodoni MT" panose="02070603080606020203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73FAECE-A919-AA6D-F90D-B1677F9DC4D2}"/>
              </a:ext>
            </a:extLst>
          </p:cNvPr>
          <p:cNvSpPr txBox="1"/>
          <p:nvPr/>
        </p:nvSpPr>
        <p:spPr>
          <a:xfrm>
            <a:off x="1092796" y="902655"/>
            <a:ext cx="10006407" cy="4801314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2. Time-Based Ordering Pattern: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The highest number of orders were recorded in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[Jan]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, </a:t>
            </a:r>
            <a:r>
              <a:rPr lang="en-US" dirty="0"/>
              <a:t>with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[≈ </a:t>
            </a:r>
            <a:r>
              <a:rPr lang="en-IN" b="1" dirty="0">
                <a:solidFill>
                  <a:schemeClr val="accent1">
                    <a:lumMod val="75000"/>
                  </a:schemeClr>
                </a:solidFill>
              </a:rPr>
              <a:t>8.3%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] </a:t>
            </a:r>
            <a:r>
              <a:rPr lang="en-US" b="1" dirty="0"/>
              <a:t>more orders than the weakest month[Feb]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Monthly revenue is </a:t>
            </a:r>
            <a:r>
              <a:rPr lang="en-US" b="1" dirty="0"/>
              <a:t>highly stable</a:t>
            </a:r>
            <a:r>
              <a:rPr lang="en-US" dirty="0"/>
              <a:t>, ranging only between [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₹6.23M – ₹6.83M]</a:t>
            </a:r>
            <a:r>
              <a:rPr lang="en-US" dirty="0"/>
              <a:t>, showing </a:t>
            </a:r>
            <a:r>
              <a:rPr lang="en-US" b="1" dirty="0"/>
              <a:t>consistent customer demand</a:t>
            </a:r>
            <a:r>
              <a:rPr lang="en-US" dirty="0"/>
              <a:t>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Each month contributes </a:t>
            </a:r>
            <a:r>
              <a:rPr lang="en-US" b="1" dirty="0"/>
              <a:t>~11%–12% of total revenue and orders</a:t>
            </a:r>
            <a:r>
              <a:rPr lang="en-US" dirty="0"/>
              <a:t> due to uniformity.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dirty="0"/>
              <a:t>January alone contributes: 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accent1">
                    <a:lumMod val="75000"/>
                  </a:schemeClr>
                </a:solidFill>
              </a:rPr>
              <a:t>≈11.9% </a:t>
            </a:r>
            <a:r>
              <a:rPr lang="en-IN" dirty="0"/>
              <a:t>of Total Revenue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accent1">
                    <a:lumMod val="75000"/>
                  </a:schemeClr>
                </a:solidFill>
              </a:rPr>
              <a:t>≈12.9% </a:t>
            </a:r>
            <a:r>
              <a:rPr lang="en-IN" dirty="0"/>
              <a:t>of Total Order</a:t>
            </a:r>
          </a:p>
          <a:p>
            <a:r>
              <a:rPr lang="en-IN" b="1" dirty="0">
                <a:solidFill>
                  <a:srgbClr val="FF0000"/>
                </a:solidFill>
              </a:rPr>
              <a:t>Hourly Trends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b="1" dirty="0"/>
              <a:t>Strong morning surge</a:t>
            </a:r>
            <a:r>
              <a:rPr lang="en-US" dirty="0"/>
              <a:t> begins right after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7:00 AM</a:t>
            </a:r>
            <a:r>
              <a:rPr lang="en-US" dirty="0"/>
              <a:t>, indicating high breakfast demand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/>
              <a:t>Orders </a:t>
            </a:r>
            <a:r>
              <a:rPr lang="en-US" b="1" dirty="0"/>
              <a:t>peak between [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7:00 AM</a:t>
            </a:r>
            <a:r>
              <a:rPr lang="en-US" b="1" dirty="0"/>
              <a:t>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and</a:t>
            </a:r>
            <a:r>
              <a:rPr lang="en-US" b="1" dirty="0"/>
              <a:t>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11:00 AM]</a:t>
            </a:r>
            <a:r>
              <a:rPr lang="en-US" dirty="0"/>
              <a:t>, marking this as the most active consumption window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/>
                </a:solidFill>
              </a:rPr>
              <a:t>Post-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8:00 PM</a:t>
            </a:r>
            <a:r>
              <a:rPr lang="en-US" dirty="0"/>
              <a:t>, order volume rises sharply, driven by dinner and late-evening snacking behavior.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b="1" dirty="0"/>
              <a:t>Highest order spike occurs</a:t>
            </a:r>
            <a:r>
              <a:rPr lang="en-US" b="1" dirty="0">
                <a:solidFill>
                  <a:schemeClr val="tx1"/>
                </a:solidFill>
              </a:rPr>
              <a:t> after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11:00 PM</a:t>
            </a:r>
            <a:r>
              <a:rPr lang="en-US" dirty="0"/>
              <a:t>, highlighting a strong late-night customer segment.</a:t>
            </a: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5324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A458C8C-2C80-2329-2B7C-1E90030FDA9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9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98000"/>
                    </a14:imgEffect>
                    <a14:imgEffect>
                      <a14:brightnessContrast contrast="-4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9231" y="15345"/>
            <a:ext cx="7485981" cy="684265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35122EF-30A7-7C29-C0EA-899B97417992}"/>
              </a:ext>
            </a:extLst>
          </p:cNvPr>
          <p:cNvSpPr txBox="1"/>
          <p:nvPr/>
        </p:nvSpPr>
        <p:spPr>
          <a:xfrm>
            <a:off x="963416" y="199293"/>
            <a:ext cx="3962399" cy="76944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4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doni MT" panose="02070603080606020203" pitchFamily="18" charset="0"/>
              </a:rPr>
              <a:t>Final Insights</a:t>
            </a:r>
            <a:endParaRPr lang="en-IN" sz="44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Bodoni MT" panose="02070603080606020203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0F439BB-6AE6-6230-DB77-C5C402B91851}"/>
              </a:ext>
            </a:extLst>
          </p:cNvPr>
          <p:cNvSpPr txBox="1"/>
          <p:nvPr/>
        </p:nvSpPr>
        <p:spPr>
          <a:xfrm>
            <a:off x="1200000" y="968734"/>
            <a:ext cx="9792000" cy="452431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lvl="2"/>
            <a:endParaRPr lang="en-US" b="1" dirty="0"/>
          </a:p>
          <a:p>
            <a:r>
              <a:rPr lang="en-US" b="1" dirty="0">
                <a:solidFill>
                  <a:srgbClr val="FF0000"/>
                </a:solidFill>
              </a:rPr>
              <a:t>3. </a:t>
            </a:r>
            <a:r>
              <a:rPr lang="en-IN" b="1" dirty="0">
                <a:solidFill>
                  <a:srgbClr val="FF0000"/>
                </a:solidFill>
              </a:rPr>
              <a:t>Category Level Insights: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The top-performing category (e.g.,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Recommended</a:t>
            </a:r>
            <a:r>
              <a:rPr lang="en-US" b="1" dirty="0"/>
              <a:t>)</a:t>
            </a:r>
            <a:r>
              <a:rPr lang="en-US" dirty="0"/>
              <a:t> generated the </a:t>
            </a:r>
            <a:r>
              <a:rPr lang="en-US" b="1" dirty="0"/>
              <a:t>highest revenue of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≈ ₹7.1M</a:t>
            </a:r>
            <a:r>
              <a:rPr lang="en-US" dirty="0"/>
              <a:t>, making it the biggest driver of platform sales</a:t>
            </a:r>
            <a:endParaRPr lang="en-US" b="1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Beverages</a:t>
            </a:r>
            <a:r>
              <a:rPr lang="en-US" dirty="0"/>
              <a:t>, on the other hand, shows </a:t>
            </a:r>
            <a:r>
              <a:rPr lang="en-US" b="1" dirty="0"/>
              <a:t>consistently low demand and minimal revenue contribution</a:t>
            </a:r>
            <a:r>
              <a:rPr lang="en-US" dirty="0"/>
              <a:t>, indicating limited customer interest in this segment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More than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[≈ 17 %] </a:t>
            </a:r>
            <a:r>
              <a:rPr lang="en-US" b="1" dirty="0"/>
              <a:t>of total revenue</a:t>
            </a:r>
            <a:r>
              <a:rPr lang="en-US" dirty="0"/>
              <a:t> is contributed by only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3–5</a:t>
            </a:r>
            <a:r>
              <a:rPr lang="en-US" b="1" dirty="0"/>
              <a:t> major categories</a:t>
            </a:r>
            <a:r>
              <a:rPr lang="en-US" dirty="0"/>
              <a:t>, highlighting that Swiggy’s business is heavily dependent on a small set of high-performing food segments</a:t>
            </a:r>
            <a:endParaRPr lang="en-US" b="1" dirty="0"/>
          </a:p>
          <a:p>
            <a:endParaRPr lang="en-IN" b="1" dirty="0">
              <a:solidFill>
                <a:srgbClr val="FF0000"/>
              </a:solidFill>
            </a:endParaRPr>
          </a:p>
          <a:p>
            <a:r>
              <a:rPr lang="en-IN" b="1" dirty="0">
                <a:solidFill>
                  <a:srgbClr val="FF0000"/>
                </a:solidFill>
              </a:rPr>
              <a:t>4. Price &amp; Rating Relationship: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Items in the </a:t>
            </a:r>
            <a:r>
              <a:rPr lang="en-US" b="1" dirty="0"/>
              <a:t>mid-price range (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≈ ₹100 – ₹300</a:t>
            </a:r>
            <a:r>
              <a:rPr lang="en-US" b="1" dirty="0"/>
              <a:t>)</a:t>
            </a:r>
            <a:r>
              <a:rPr lang="en-US" dirty="0"/>
              <a:t> consistently received the </a:t>
            </a:r>
            <a:r>
              <a:rPr lang="en-US" b="1" dirty="0"/>
              <a:t>highest customer ratings</a:t>
            </a:r>
            <a:r>
              <a:rPr lang="en-US" dirty="0"/>
              <a:t>, reinforcing strong </a:t>
            </a:r>
            <a:r>
              <a:rPr lang="en-US" b="1" dirty="0"/>
              <a:t>“value for money” </a:t>
            </a:r>
            <a:r>
              <a:rPr lang="en-US" dirty="0"/>
              <a:t>perception.</a:t>
            </a:r>
            <a:endParaRPr lang="en-US" b="1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While extremely high-priced items</a:t>
            </a:r>
            <a:r>
              <a:rPr lang="en-US" dirty="0"/>
              <a:t> often show </a:t>
            </a:r>
            <a:r>
              <a:rPr lang="en-US" b="1" dirty="0"/>
              <a:t>lower or inconsistent ratings</a:t>
            </a:r>
            <a:r>
              <a:rPr lang="en-US" dirty="0"/>
              <a:t>, a few premium items </a:t>
            </a:r>
            <a:r>
              <a:rPr lang="en-US" b="1" dirty="0"/>
              <a:t>still earn high ratings</a:t>
            </a:r>
            <a:r>
              <a:rPr lang="en-US" dirty="0"/>
              <a:t>, proving customers reward quality when it meets expectations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Overall, </a:t>
            </a:r>
            <a:r>
              <a:rPr lang="en-US" b="1" dirty="0"/>
              <a:t>value and quality together drive ratings</a:t>
            </a:r>
            <a:r>
              <a:rPr lang="en-US" dirty="0"/>
              <a:t>, not just low or high pricing</a:t>
            </a:r>
          </a:p>
          <a:p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17544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03DD1DB-6E2A-D076-8B50-29562F7EE78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9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98000"/>
                    </a14:imgEffect>
                    <a14:imgEffect>
                      <a14:brightnessContrast contrast="-4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9231" y="15345"/>
            <a:ext cx="7485981" cy="684265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E586272-ABBB-367C-0488-603F8BABDE80}"/>
              </a:ext>
            </a:extLst>
          </p:cNvPr>
          <p:cNvSpPr txBox="1"/>
          <p:nvPr/>
        </p:nvSpPr>
        <p:spPr>
          <a:xfrm>
            <a:off x="726832" y="344885"/>
            <a:ext cx="396239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latin typeface="Bodoni MT" panose="02070603080606020203" pitchFamily="18" charset="0"/>
              </a:rPr>
              <a:t>Final Insights</a:t>
            </a:r>
            <a:endParaRPr lang="en-IN" sz="4400" dirty="0">
              <a:latin typeface="Bodoni MT" panose="02070603080606020203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B7A6351-EA1F-C7C2-4CDB-EDA07D153974}"/>
              </a:ext>
            </a:extLst>
          </p:cNvPr>
          <p:cNvSpPr txBox="1"/>
          <p:nvPr/>
        </p:nvSpPr>
        <p:spPr>
          <a:xfrm>
            <a:off x="748494" y="1327080"/>
            <a:ext cx="10695012" cy="480131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5</a:t>
            </a:r>
            <a:r>
              <a:rPr lang="en-IN" b="1" dirty="0">
                <a:solidFill>
                  <a:srgbClr val="FF0000"/>
                </a:solidFill>
              </a:rPr>
              <a:t>. Weekday vs Weekend Analysis: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Weekdays dominate platform performance</a:t>
            </a:r>
            <a:r>
              <a:rPr lang="en-US" dirty="0"/>
              <a:t>, contributing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≈ 71% of Orders (140k)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dirty="0"/>
              <a:t>and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≈ 70% of Revenue (₹37.59M)</a:t>
            </a:r>
            <a:r>
              <a:rPr lang="en-US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Weekends lag behind</a:t>
            </a:r>
            <a:r>
              <a:rPr lang="en-US" dirty="0"/>
              <a:t>, contributing only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29% of Orders (57k)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dirty="0"/>
              <a:t>and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30% of Revenue (₹15.42M)</a:t>
            </a:r>
            <a:r>
              <a:rPr lang="en-US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This strong imbalance reveals a </a:t>
            </a:r>
            <a:r>
              <a:rPr lang="en-US" b="1" dirty="0"/>
              <a:t>major growth opportunity to boost weekend sales</a:t>
            </a:r>
            <a:r>
              <a:rPr lang="en-US" dirty="0"/>
              <a:t> through targeted promotions and strategic offers.</a:t>
            </a:r>
          </a:p>
          <a:p>
            <a:r>
              <a:rPr lang="en-US" b="1" dirty="0">
                <a:solidFill>
                  <a:srgbClr val="FF0000"/>
                </a:solidFill>
              </a:rPr>
              <a:t>6. </a:t>
            </a:r>
            <a:r>
              <a:rPr lang="en-IN" b="1" dirty="0">
                <a:solidFill>
                  <a:srgbClr val="FF0000"/>
                </a:solidFill>
              </a:rPr>
              <a:t>Location &amp; City-Based Demand: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Bangalore</a:t>
            </a:r>
            <a:r>
              <a:rPr lang="en-US" dirty="0"/>
              <a:t> contributes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≈ 9.5% </a:t>
            </a:r>
            <a:r>
              <a:rPr lang="en-US" dirty="0"/>
              <a:t>of the total revenue and ~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10% </a:t>
            </a:r>
            <a:r>
              <a:rPr lang="en-US" dirty="0"/>
              <a:t>of total orders (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20K of 197K</a:t>
            </a:r>
            <a:r>
              <a:rPr lang="en-US" dirty="0"/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Lucknow</a:t>
            </a:r>
            <a:r>
              <a:rPr lang="en-US" dirty="0"/>
              <a:t> contributes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≈ 5.4% </a:t>
            </a:r>
            <a:r>
              <a:rPr lang="en-US" dirty="0"/>
              <a:t>of the total revenue and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≈ 5% </a:t>
            </a:r>
            <a:r>
              <a:rPr lang="en-US" dirty="0"/>
              <a:t>of total orders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(10K of 197K)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Hyderabad</a:t>
            </a:r>
            <a:r>
              <a:rPr lang="en-US" dirty="0"/>
              <a:t> and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Mumbai</a:t>
            </a:r>
            <a:r>
              <a:rPr lang="en-US" dirty="0"/>
              <a:t> each contributed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≈ 5% </a:t>
            </a:r>
            <a:r>
              <a:rPr lang="en-US" dirty="0"/>
              <a:t>of total revenue and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≈ 5% </a:t>
            </a:r>
            <a:r>
              <a:rPr lang="en-US" dirty="0"/>
              <a:t>of total orders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(≈10k of 197k)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Certain locations inside cities generated up to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2x</a:t>
            </a:r>
            <a:r>
              <a:rPr lang="en-US" b="1" dirty="0"/>
              <a:t> more orders</a:t>
            </a:r>
            <a:r>
              <a:rPr lang="en-US" dirty="0"/>
              <a:t> than others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Some cities show </a:t>
            </a:r>
            <a:r>
              <a:rPr lang="en-US" b="1" dirty="0"/>
              <a:t>very low conversion despite large population</a:t>
            </a:r>
          </a:p>
          <a:p>
            <a:r>
              <a:rPr lang="en-US" b="1" dirty="0">
                <a:solidFill>
                  <a:srgbClr val="FF0000"/>
                </a:solidFill>
              </a:rPr>
              <a:t>7. </a:t>
            </a:r>
            <a:r>
              <a:rPr lang="en-IN" b="1" dirty="0">
                <a:solidFill>
                  <a:srgbClr val="FF0000"/>
                </a:solidFill>
              </a:rPr>
              <a:t>Rating Bucket Insights: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Restaurants rated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4.0 – 4.5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dirty="0"/>
              <a:t>produced </a:t>
            </a:r>
            <a:r>
              <a:rPr lang="en-US" b="1" dirty="0"/>
              <a:t>maximum revenue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Restaurants below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3</a:t>
            </a:r>
            <a:r>
              <a:rPr lang="en-US" dirty="0"/>
              <a:t> show poor sales and poor orders</a:t>
            </a:r>
          </a:p>
          <a:p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IN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43987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979869B-E00C-787C-3AA5-C3ECD4CDCE2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9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98000"/>
                    </a14:imgEffect>
                    <a14:imgEffect>
                      <a14:brightnessContrast contrast="-4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9231" y="15345"/>
            <a:ext cx="7485981" cy="684265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9DD2DFE-9D5E-3FE8-55D9-B8B0405D81F6}"/>
              </a:ext>
            </a:extLst>
          </p:cNvPr>
          <p:cNvSpPr txBox="1"/>
          <p:nvPr/>
        </p:nvSpPr>
        <p:spPr>
          <a:xfrm>
            <a:off x="1180237" y="133214"/>
            <a:ext cx="396239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doni MT" panose="02070603080606020203" pitchFamily="18" charset="0"/>
              </a:rPr>
              <a:t>Final Insights</a:t>
            </a:r>
            <a:endParaRPr lang="en-IN" sz="44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Bodoni MT" panose="02070603080606020203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26976F7-50EB-9A26-13C6-43528A1DD0A3}"/>
              </a:ext>
            </a:extLst>
          </p:cNvPr>
          <p:cNvSpPr txBox="1"/>
          <p:nvPr/>
        </p:nvSpPr>
        <p:spPr>
          <a:xfrm>
            <a:off x="1386523" y="902655"/>
            <a:ext cx="10006407" cy="4247317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8. </a:t>
            </a:r>
            <a:r>
              <a:rPr lang="en-IN" b="1" dirty="0">
                <a:solidFill>
                  <a:srgbClr val="FF0000"/>
                </a:solidFill>
              </a:rPr>
              <a:t>Day-wise Performance: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Order patterns fluctuate throughout the week — some weekends show spikes while others drop</a:t>
            </a:r>
            <a:r>
              <a:rPr lang="en-US" dirty="0"/>
              <a:t>, indicating inconsistent customer demand rather than a fixed weekend trend.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Highest order frequency occurs on Saturday &amp; Sunday</a:t>
            </a:r>
            <a:r>
              <a:rPr lang="en-US" dirty="0"/>
              <a:t>, while </a:t>
            </a:r>
            <a:r>
              <a:rPr lang="en-US" b="1" dirty="0"/>
              <a:t>the lowest orders are observed on weekdays like Monday/Tuesday</a:t>
            </a:r>
            <a:r>
              <a:rPr lang="en-US" dirty="0"/>
              <a:t>, showing clear mid-week slowdowns.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/>
              <a:t>Certain days generate high revenue despite lower order counts</a:t>
            </a:r>
            <a:r>
              <a:rPr lang="en-US"/>
              <a:t>, meaning customers place </a:t>
            </a:r>
            <a:r>
              <a:rPr lang="en-US" b="1"/>
              <a:t>fewer but higher-value orders</a:t>
            </a:r>
            <a:r>
              <a:rPr lang="en-US"/>
              <a:t>, boosting daily revenue even when volume is low</a:t>
            </a:r>
          </a:p>
          <a:p>
            <a:r>
              <a:rPr lang="en-US" b="1">
                <a:solidFill>
                  <a:srgbClr val="FF0000"/>
                </a:solidFill>
              </a:rPr>
              <a:t>9</a:t>
            </a:r>
            <a:r>
              <a:rPr lang="en-US" b="1" dirty="0">
                <a:solidFill>
                  <a:srgbClr val="FF0000"/>
                </a:solidFill>
              </a:rPr>
              <a:t>. </a:t>
            </a:r>
            <a:r>
              <a:rPr lang="en-IN" b="1" dirty="0">
                <a:solidFill>
                  <a:srgbClr val="FF0000"/>
                </a:solidFill>
              </a:rPr>
              <a:t>Restaurant analysis: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IN" b="1" dirty="0">
              <a:solidFill>
                <a:srgbClr val="FF0000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The </a:t>
            </a:r>
            <a:r>
              <a:rPr lang="en-US" b="1" dirty="0"/>
              <a:t>Top 10 restaurants (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Rating ≥ 4 and Price ₹200–₹400)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dirty="0"/>
              <a:t>generate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≈ ₹18M </a:t>
            </a:r>
            <a:r>
              <a:rPr lang="en-US" b="1" dirty="0"/>
              <a:t>out of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₹57M</a:t>
            </a:r>
            <a:r>
              <a:rPr lang="en-US" dirty="0"/>
              <a:t>, contributing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≈32% </a:t>
            </a:r>
            <a:r>
              <a:rPr lang="en-US" b="1" dirty="0"/>
              <a:t>of Swiggy’s total revenue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These same restaurants deliver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63k</a:t>
            </a:r>
            <a:r>
              <a:rPr lang="en-US" b="1" dirty="0"/>
              <a:t> out of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197k</a:t>
            </a:r>
            <a:r>
              <a:rPr lang="en-US" b="1" dirty="0"/>
              <a:t> orders</a:t>
            </a:r>
            <a:r>
              <a:rPr lang="en-US" dirty="0"/>
              <a:t>, accounting for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≈32% </a:t>
            </a:r>
            <a:r>
              <a:rPr lang="en-US" b="1" dirty="0"/>
              <a:t>of the total order volume</a:t>
            </a:r>
          </a:p>
          <a:p>
            <a:r>
              <a:rPr lang="en-US" dirty="0"/>
              <a:t>This means </a:t>
            </a:r>
            <a:r>
              <a:rPr lang="en-US" b="1" dirty="0"/>
              <a:t>one-third of Swiggy’s entire business is driven by a small set of high-rated, mid-priced restaurants</a:t>
            </a:r>
            <a:r>
              <a:rPr lang="en-US" dirty="0"/>
              <a:t>, highlighting strong customer preference for </a:t>
            </a:r>
            <a:r>
              <a:rPr lang="en-US" b="1" dirty="0"/>
              <a:t>affordable pricing and consistently high quality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923795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12057</TotalTime>
  <Words>1671</Words>
  <Application>Microsoft Office PowerPoint</Application>
  <PresentationFormat>Widescreen</PresentationFormat>
  <Paragraphs>197</Paragraphs>
  <Slides>15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Bodoni MT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MANEESH MAURYA</dc:creator>
  <cp:lastModifiedBy>MANEESH MAURYA</cp:lastModifiedBy>
  <cp:revision>5</cp:revision>
  <dcterms:created xsi:type="dcterms:W3CDTF">2025-12-02T06:51:42Z</dcterms:created>
  <dcterms:modified xsi:type="dcterms:W3CDTF">2025-12-12T15:54:38Z</dcterms:modified>
</cp:coreProperties>
</file>